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ln w="31750">
              <a:solidFill>
                <a:srgbClr val="1890FF"/>
              </a:solidFill>
            </a:ln>
          </c:spPr>
          <c:cat>
            <c:strRef>
              <c:f>Sheet1!$A$2:$A$19</c:f>
              <c:strCache>
                <c:ptCount val="18"/>
                <c:pt idx="0">
                  <c:v>Jan 2022</c:v>
                </c:pt>
                <c:pt idx="1">
                  <c:v>Feb 2022</c:v>
                </c:pt>
                <c:pt idx="2">
                  <c:v>Mar 2022</c:v>
                </c:pt>
                <c:pt idx="3">
                  <c:v>Apr 2022</c:v>
                </c:pt>
                <c:pt idx="4">
                  <c:v>May 2022</c:v>
                </c:pt>
                <c:pt idx="5">
                  <c:v>Jun 2022</c:v>
                </c:pt>
                <c:pt idx="6">
                  <c:v>Jul 2022</c:v>
                </c:pt>
                <c:pt idx="7">
                  <c:v>Aug 2022</c:v>
                </c:pt>
                <c:pt idx="8">
                  <c:v>Sep 2022</c:v>
                </c:pt>
                <c:pt idx="9">
                  <c:v>Oct 2022</c:v>
                </c:pt>
                <c:pt idx="10">
                  <c:v>Nov 2022</c:v>
                </c:pt>
                <c:pt idx="11">
                  <c:v>Dec 2022</c:v>
                </c:pt>
                <c:pt idx="12">
                  <c:v>Jan 2023</c:v>
                </c:pt>
                <c:pt idx="13">
                  <c:v>Feb 2023</c:v>
                </c:pt>
                <c:pt idx="14">
                  <c:v>Mar 2023</c:v>
                </c:pt>
                <c:pt idx="15">
                  <c:v>Apr 2023</c:v>
                </c:pt>
                <c:pt idx="16">
                  <c:v>May 2023</c:v>
                </c:pt>
                <c:pt idx="17">
                  <c:v>Jun 2023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2784</c:v>
                </c:pt>
                <c:pt idx="1">
                  <c:v>2593</c:v>
                </c:pt>
                <c:pt idx="2">
                  <c:v>2810</c:v>
                </c:pt>
                <c:pt idx="3">
                  <c:v>2725</c:v>
                </c:pt>
                <c:pt idx="4">
                  <c:v>2758</c:v>
                </c:pt>
                <c:pt idx="5">
                  <c:v>2798</c:v>
                </c:pt>
                <c:pt idx="6">
                  <c:v>2883</c:v>
                </c:pt>
                <c:pt idx="7">
                  <c:v>2870</c:v>
                </c:pt>
                <c:pt idx="8">
                  <c:v>2762</c:v>
                </c:pt>
                <c:pt idx="9">
                  <c:v>2784</c:v>
                </c:pt>
                <c:pt idx="10">
                  <c:v>2802</c:v>
                </c:pt>
                <c:pt idx="11">
                  <c:v>2863</c:v>
                </c:pt>
                <c:pt idx="12">
                  <c:v>2881</c:v>
                </c:pt>
                <c:pt idx="13">
                  <c:v>2550</c:v>
                </c:pt>
                <c:pt idx="14">
                  <c:v>2749</c:v>
                </c:pt>
                <c:pt idx="15">
                  <c:v>2722</c:v>
                </c:pt>
                <c:pt idx="16">
                  <c:v>2958</c:v>
                </c:pt>
                <c:pt idx="17">
                  <c:v>2708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50">
                <a:latin typeface="Segoe U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50">
                <a:latin typeface="Segoe U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1890FF"/>
            </a:solidFill>
          </c:spPr>
          <c:cat>
            <c:strRef>
              <c:f>Sheet1!$A$2:$A$4</c:f>
              <c:strCache>
                <c:ptCount val="3"/>
                <c:pt idx="0">
                  <c:v>Toyota</c:v>
                </c:pt>
                <c:pt idx="1">
                  <c:v>Hyundai</c:v>
                </c:pt>
                <c:pt idx="2">
                  <c:v>Suzuki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8384</c:v>
                </c:pt>
                <c:pt idx="1">
                  <c:v>8362</c:v>
                </c:pt>
                <c:pt idx="2">
                  <c:v>8359</c:v>
                </c:pt>
              </c:numCache>
            </c:numRef>
          </c:val>
        </c:ser>
        <c:dLbls>
          <c:txPr>
            <a:bodyPr/>
            <a:lstStyle/>
            <a:p>
              <a:pPr>
                <a:defRPr sz="850" b="1">
                  <a:latin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1890FF"/>
            </a:solidFill>
          </c:spPr>
          <c:cat>
            <c:strRef>
              <c:f>Sheet1!$A$2:$A$4</c:f>
              <c:strCache>
                <c:ptCount val="3"/>
                <c:pt idx="0">
                  <c:v>Wagon R</c:v>
                </c:pt>
                <c:pt idx="1">
                  <c:v>Tucson</c:v>
                </c:pt>
                <c:pt idx="2">
                  <c:v>Elantra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2833</c:v>
                </c:pt>
                <c:pt idx="1">
                  <c:v>2825</c:v>
                </c:pt>
                <c:pt idx="2">
                  <c:v>2798</c:v>
                </c:pt>
              </c:numCache>
            </c:numRef>
          </c:val>
        </c:ser>
        <c:dLbls>
          <c:txPr>
            <a:bodyPr/>
            <a:lstStyle/>
            <a:p>
              <a:pPr>
                <a:defRPr sz="850" b="1">
                  <a:latin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Automatic</c:v>
                </c:pt>
                <c:pt idx="1">
                  <c:v>Manual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25011</c:v>
                </c:pt>
                <c:pt idx="1">
                  <c:v>24989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850" b="1">
                  <a:latin typeface="Segoe UI"/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Bank Loan</c:v>
                </c:pt>
                <c:pt idx="1">
                  <c:v>Cash</c:v>
                </c:pt>
                <c:pt idx="2">
                  <c:v>Leasing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16588</c:v>
                </c:pt>
                <c:pt idx="1">
                  <c:v>16762</c:v>
                </c:pt>
                <c:pt idx="2">
                  <c:v>16650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850" b="1">
                  <a:latin typeface="Segoe UI"/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323"/>
                </a:solidFill>
                <a:latin typeface="Segoe UI"/>
              </a:defRPr>
            </a:pPr>
            <a:r>
              <a:t>Car Sales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85800"/>
            <a:ext cx="1783080" cy="1143000"/>
          </a:xfrm>
          <a:prstGeom prst="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85800"/>
            <a:ext cx="1783080" cy="320040"/>
          </a:xfrm>
          <a:prstGeom prst="rect">
            <a:avLst/>
          </a:prstGeom>
          <a:solidFill>
            <a:srgbClr val="6A7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Total Sales Unit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1783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32323"/>
                </a:solidFill>
                <a:latin typeface="Segoe UI"/>
              </a:defRPr>
            </a:pPr>
            <a:r>
              <a:t>50K</a:t>
            </a:r>
          </a:p>
        </p:txBody>
      </p:sp>
      <p:sp>
        <p:nvSpPr>
          <p:cNvPr id="6" name="Rectangle 5"/>
          <p:cNvSpPr/>
          <p:nvPr/>
        </p:nvSpPr>
        <p:spPr>
          <a:xfrm>
            <a:off x="2240280" y="685800"/>
            <a:ext cx="1783080" cy="1143000"/>
          </a:xfrm>
          <a:prstGeom prst="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0280" y="685800"/>
            <a:ext cx="1783080" cy="320040"/>
          </a:xfrm>
          <a:prstGeom prst="rect">
            <a:avLst/>
          </a:prstGeom>
          <a:solidFill>
            <a:srgbClr val="6A7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Total Sales 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051560"/>
            <a:ext cx="1783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32323"/>
                </a:solidFill>
                <a:latin typeface="Segoe UI"/>
              </a:defRPr>
            </a:pPr>
            <a:r>
              <a:t>422.5bn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685800"/>
            <a:ext cx="1783080" cy="1143000"/>
          </a:xfrm>
          <a:prstGeom prst="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0" y="685800"/>
            <a:ext cx="1783080" cy="320040"/>
          </a:xfrm>
          <a:prstGeom prst="rect">
            <a:avLst/>
          </a:prstGeom>
          <a:solidFill>
            <a:srgbClr val="6A7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Total Car Brand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051560"/>
            <a:ext cx="1783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32323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685800"/>
            <a:ext cx="1783080" cy="1143000"/>
          </a:xfrm>
          <a:prstGeom prst="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685800"/>
            <a:ext cx="1783080" cy="320040"/>
          </a:xfrm>
          <a:prstGeom prst="rect">
            <a:avLst/>
          </a:prstGeom>
          <a:solidFill>
            <a:srgbClr val="6A7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Total Car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051560"/>
            <a:ext cx="1783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32323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685800"/>
            <a:ext cx="1783080" cy="1143000"/>
          </a:xfrm>
          <a:prstGeom prst="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0" y="685800"/>
            <a:ext cx="1783080" cy="320040"/>
          </a:xfrm>
          <a:prstGeom prst="rect">
            <a:avLst/>
          </a:prstGeom>
          <a:solidFill>
            <a:srgbClr val="6A7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Total Car Vehicle Year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1051560"/>
            <a:ext cx="1783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32323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38360" y="685800"/>
            <a:ext cx="1783080" cy="1143000"/>
          </a:xfrm>
          <a:prstGeom prst="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738360" y="685800"/>
            <a:ext cx="1783080" cy="320040"/>
          </a:xfrm>
          <a:prstGeom prst="rect">
            <a:avLst/>
          </a:prstGeom>
          <a:solidFill>
            <a:srgbClr val="6A7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Total Sales Person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1051560"/>
            <a:ext cx="1783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32323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1965960"/>
            <a:ext cx="11155680" cy="2148840"/>
          </a:xfrm>
          <a:prstGeom prst="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1965960"/>
            <a:ext cx="11155680" cy="320040"/>
          </a:xfrm>
          <a:prstGeom prst="rect">
            <a:avLst/>
          </a:prstGeom>
          <a:solidFill>
            <a:srgbClr val="6A7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Monthly Sales Trend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457200" y="2331720"/>
          <a:ext cx="10972800" cy="1737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ectangle 23"/>
          <p:cNvSpPr/>
          <p:nvPr/>
        </p:nvSpPr>
        <p:spPr>
          <a:xfrm>
            <a:off x="365760" y="4206240"/>
            <a:ext cx="1691640" cy="2423160"/>
          </a:xfrm>
          <a:prstGeom prst="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206240"/>
            <a:ext cx="1691640" cy="320040"/>
          </a:xfrm>
          <a:prstGeom prst="rect">
            <a:avLst/>
          </a:prstGeom>
          <a:solidFill>
            <a:srgbClr val="6A7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Top 3 Sales by Car Brand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411480" y="4572000"/>
          <a:ext cx="1600200" cy="2011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7" name="Rectangle 26"/>
          <p:cNvSpPr/>
          <p:nvPr/>
        </p:nvSpPr>
        <p:spPr>
          <a:xfrm>
            <a:off x="2167128" y="4206240"/>
            <a:ext cx="1691640" cy="2423160"/>
          </a:xfrm>
          <a:prstGeom prst="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167128" y="4206240"/>
            <a:ext cx="1691640" cy="320040"/>
          </a:xfrm>
          <a:prstGeom prst="rect">
            <a:avLst/>
          </a:prstGeom>
          <a:solidFill>
            <a:srgbClr val="6A7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Top 3 Sales by Car Model</a:t>
            </a:r>
          </a:p>
        </p:txBody>
      </p:sp>
      <p:graphicFrame>
        <p:nvGraphicFramePr>
          <p:cNvPr id="29" name="Chart 28"/>
          <p:cNvGraphicFramePr>
            <a:graphicFrameLocks noGrp="1"/>
          </p:cNvGraphicFramePr>
          <p:nvPr/>
        </p:nvGraphicFramePr>
        <p:xfrm>
          <a:off x="2212848" y="4572000"/>
          <a:ext cx="1600200" cy="20116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0" name="Rectangle 29"/>
          <p:cNvSpPr/>
          <p:nvPr/>
        </p:nvSpPr>
        <p:spPr>
          <a:xfrm>
            <a:off x="3968496" y="4206240"/>
            <a:ext cx="1874519" cy="2423160"/>
          </a:xfrm>
          <a:prstGeom prst="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968496" y="4206240"/>
            <a:ext cx="1874519" cy="320040"/>
          </a:xfrm>
          <a:prstGeom prst="rect">
            <a:avLst/>
          </a:prstGeom>
          <a:solidFill>
            <a:srgbClr val="6A7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Transmission Type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4014216" y="4572000"/>
          <a:ext cx="1783079" cy="20116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Rectangle 32"/>
          <p:cNvSpPr/>
          <p:nvPr/>
        </p:nvSpPr>
        <p:spPr>
          <a:xfrm>
            <a:off x="5952743" y="4206240"/>
            <a:ext cx="2011680" cy="2423160"/>
          </a:xfrm>
          <a:prstGeom prst="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52743" y="4206240"/>
            <a:ext cx="2011680" cy="320040"/>
          </a:xfrm>
          <a:prstGeom prst="rect">
            <a:avLst/>
          </a:prstGeom>
          <a:solidFill>
            <a:srgbClr val="6A7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Payment Type</a:t>
            </a:r>
          </a:p>
        </p:txBody>
      </p:sp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5998463" y="4572000"/>
          <a:ext cx="1920240" cy="201168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6" name="Rectangle 35"/>
          <p:cNvSpPr/>
          <p:nvPr/>
        </p:nvSpPr>
        <p:spPr>
          <a:xfrm>
            <a:off x="8074151" y="4206240"/>
            <a:ext cx="3520440" cy="2423160"/>
          </a:xfrm>
          <a:prstGeom prst="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74151" y="4206240"/>
            <a:ext cx="3520440" cy="320040"/>
          </a:xfrm>
          <a:prstGeom prst="rect">
            <a:avLst/>
          </a:prstGeom>
          <a:solidFill>
            <a:srgbClr val="6A7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Discount and Final Price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8165591" y="4617720"/>
          <a:ext cx="33375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005840"/>
                <a:gridCol w="1188720"/>
              </a:tblGrid>
              <a:tr h="261257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Car_Model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Avg 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Avg Final Price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⊞ Alto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0.04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8,559,724.83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⊞ Aqua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0.04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8,505,576.94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⊞ CR-V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0.04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8,499,662.34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⊞ Civic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0.04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8,414,846.73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⊞ Corolla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0.04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8,480,569.43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261258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⊞ Elantra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0.04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32323"/>
                          </a:solidFill>
                          <a:latin typeface="Segoe UI"/>
                        </a:defRPr>
                      </a:pPr>
                      <a:r>
                        <a:t>8,497,546.54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