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 w="31750">
              <a:solidFill>
                <a:srgbClr val="1890FF"/>
              </a:solidFill>
            </a:ln>
          </c:spPr>
          <c:cat>
            <c:strRef>
              <c:f>Sheet1!$A$2:$A$19</c:f>
              <c:strCache>
                <c:ptCount val="18"/>
                <c:pt idx="0">
                  <c:v>Jan 2022</c:v>
                </c:pt>
                <c:pt idx="1">
                  <c:v>Feb 2022</c:v>
                </c:pt>
                <c:pt idx="2">
                  <c:v>Mar 2022</c:v>
                </c:pt>
                <c:pt idx="3">
                  <c:v>Apr 2022</c:v>
                </c:pt>
                <c:pt idx="4">
                  <c:v>May 2022</c:v>
                </c:pt>
                <c:pt idx="5">
                  <c:v>Jun 2022</c:v>
                </c:pt>
                <c:pt idx="6">
                  <c:v>Jul 2022</c:v>
                </c:pt>
                <c:pt idx="7">
                  <c:v>Aug 2022</c:v>
                </c:pt>
                <c:pt idx="8">
                  <c:v>Sep 2022</c:v>
                </c:pt>
                <c:pt idx="9">
                  <c:v>Oct 2022</c:v>
                </c:pt>
                <c:pt idx="10">
                  <c:v>Nov 2022</c:v>
                </c:pt>
                <c:pt idx="11">
                  <c:v>Dec 2022</c:v>
                </c:pt>
                <c:pt idx="12">
                  <c:v>Jan 2023</c:v>
                </c:pt>
                <c:pt idx="13">
                  <c:v>Feb 2023</c:v>
                </c:pt>
                <c:pt idx="14">
                  <c:v>Mar 2023</c:v>
                </c:pt>
                <c:pt idx="15">
                  <c:v>Apr 2023</c:v>
                </c:pt>
                <c:pt idx="16">
                  <c:v>May 2023</c:v>
                </c:pt>
                <c:pt idx="17">
                  <c:v>Jun 2023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549</c:v>
                </c:pt>
                <c:pt idx="1">
                  <c:v>517</c:v>
                </c:pt>
                <c:pt idx="2">
                  <c:v>570</c:v>
                </c:pt>
                <c:pt idx="3">
                  <c:v>534</c:v>
                </c:pt>
                <c:pt idx="4">
                  <c:v>543</c:v>
                </c:pt>
                <c:pt idx="5">
                  <c:v>568</c:v>
                </c:pt>
                <c:pt idx="6">
                  <c:v>574</c:v>
                </c:pt>
                <c:pt idx="7">
                  <c:v>570</c:v>
                </c:pt>
                <c:pt idx="8">
                  <c:v>558</c:v>
                </c:pt>
                <c:pt idx="9">
                  <c:v>556</c:v>
                </c:pt>
                <c:pt idx="10">
                  <c:v>516</c:v>
                </c:pt>
                <c:pt idx="11">
                  <c:v>586</c:v>
                </c:pt>
                <c:pt idx="12">
                  <c:v>527</c:v>
                </c:pt>
                <c:pt idx="13">
                  <c:v>486</c:v>
                </c:pt>
                <c:pt idx="14">
                  <c:v>520</c:v>
                </c:pt>
                <c:pt idx="15">
                  <c:v>555</c:v>
                </c:pt>
                <c:pt idx="16">
                  <c:v>604</c:v>
                </c:pt>
                <c:pt idx="17">
                  <c:v>539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890FF"/>
            </a:solidFill>
          </c:spPr>
          <c:cat>
            <c:strRef>
              <c:f>Sheet1!$A$2:$A$4</c:f>
              <c:strCache>
                <c:ptCount val="3"/>
                <c:pt idx="0">
                  <c:v>Hyundai</c:v>
                </c:pt>
                <c:pt idx="1">
                  <c:v>Toyota</c:v>
                </c:pt>
                <c:pt idx="2">
                  <c:v>Honda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1690</c:v>
                </c:pt>
                <c:pt idx="1">
                  <c:v>1669</c:v>
                </c:pt>
                <c:pt idx="2">
                  <c:v>1663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890FF"/>
            </a:solidFill>
          </c:spPr>
          <c:cat>
            <c:strRef>
              <c:f>Sheet1!$A$2:$A$4</c:f>
              <c:strCache>
                <c:ptCount val="3"/>
                <c:pt idx="0">
                  <c:v>Tucson</c:v>
                </c:pt>
                <c:pt idx="1">
                  <c:v>Pajero</c:v>
                </c:pt>
                <c:pt idx="2">
                  <c:v>Santa Fe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579</c:v>
                </c:pt>
                <c:pt idx="1">
                  <c:v>564</c:v>
                </c:pt>
                <c:pt idx="2">
                  <c:v>560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4971</c:v>
                </c:pt>
                <c:pt idx="1">
                  <c:v>4901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Bank Loan</c:v>
                </c:pt>
                <c:pt idx="1">
                  <c:v>Cash</c:v>
                </c:pt>
                <c:pt idx="2">
                  <c:v>Leasing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3317</c:v>
                </c:pt>
                <c:pt idx="1">
                  <c:v>3310</c:v>
                </c:pt>
                <c:pt idx="2">
                  <c:v>3245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Segoe UI"/>
              </a:defRPr>
            </a:pPr>
            <a:r>
              <a:t>Car Sales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9.9K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028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83.4bn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Vehicle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3836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65960"/>
            <a:ext cx="11155680" cy="214884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1965960"/>
            <a:ext cx="111556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Monthly Sales Trend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7200" y="2331720"/>
          <a:ext cx="1097280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ectangle 23"/>
          <p:cNvSpPr/>
          <p:nvPr/>
        </p:nvSpPr>
        <p:spPr>
          <a:xfrm>
            <a:off x="365760" y="4206240"/>
            <a:ext cx="16916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06240"/>
            <a:ext cx="16916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Top 3 Sales by Car Brand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11480" y="4572000"/>
          <a:ext cx="16002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ectangle 26"/>
          <p:cNvSpPr/>
          <p:nvPr/>
        </p:nvSpPr>
        <p:spPr>
          <a:xfrm>
            <a:off x="2167128" y="4206240"/>
            <a:ext cx="16916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67128" y="4206240"/>
            <a:ext cx="16916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Top 3 Sales by Car Model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2212848" y="4572000"/>
          <a:ext cx="16002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Rectangle 29"/>
          <p:cNvSpPr/>
          <p:nvPr/>
        </p:nvSpPr>
        <p:spPr>
          <a:xfrm>
            <a:off x="3968496" y="4206240"/>
            <a:ext cx="1874519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68496" y="4206240"/>
            <a:ext cx="1874519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Transmission Type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4014216" y="4572000"/>
          <a:ext cx="1783079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Rectangle 32"/>
          <p:cNvSpPr/>
          <p:nvPr/>
        </p:nvSpPr>
        <p:spPr>
          <a:xfrm>
            <a:off x="5952743" y="4206240"/>
            <a:ext cx="201168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52743" y="4206240"/>
            <a:ext cx="20116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Payment Type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998463" y="4572000"/>
          <a:ext cx="1920240" cy="20116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Rectangle 35"/>
          <p:cNvSpPr/>
          <p:nvPr/>
        </p:nvSpPr>
        <p:spPr>
          <a:xfrm>
            <a:off x="8074151" y="4206240"/>
            <a:ext cx="35204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1" y="4206240"/>
            <a:ext cx="35204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Discount and Final Price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165591" y="4617720"/>
          <a:ext cx="3337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05840"/>
                <a:gridCol w="1188720"/>
              </a:tblGrid>
              <a:tr h="2612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Car_Model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Avg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Avg Final Price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Alto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8,659,300.84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Aqua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8,740,167.29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CR-V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8,538,190.89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Civic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8,267,424.76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Corolla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8,797,240.29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Elantra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8,375,081.00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